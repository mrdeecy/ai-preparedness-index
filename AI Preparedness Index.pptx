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398234-F576-488A-AC5F-BE8EA6D24858}">
  <a:tblStyle styleId="{57398234-F576-488A-AC5F-BE8EA6D248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80808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43461bcc4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43461bcc4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43461bcc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43461bcc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43461bcc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43461bcc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43461bc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43461bc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3461bcc4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43461bcc4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43461bcc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43461bcc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43461bcc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43461bcc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43461bcc4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43461bcc4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43461bcc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43461bcc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932bb8283e522f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932bb8283e522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Preparedness Index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Ghana, Africa and the World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Problem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OpenAI, Claude, Gemini, Grok, Deepseek have popularized the artificial intelligence era from 2022 till date. However, there is a significant "AI Divide" globally.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While advanced economies are rapidly integrating AI into their infrastructure and labor markets, developing nations, particularly in Africa face foundational hurdles.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This project examines where Ghana stands on AI readiness, what's holding it back, and what it would take to close the gap with leading countries using data from IMF, 2023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Preparedness Index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AI preparedness Index (AIPI) measures how countries are positioned to adopt and integrate artificial intelligence.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It is built on four macro-structural pillars: Digital Infrastructure, Human Capital, Innovation, and Regulation.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data assesses the level of AI preparedness across 174 countries globally and scores economies from 0 to 1 based on the structural pillars. 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2" name="Google Shape;72;p16"/>
          <p:cNvGraphicFramePr/>
          <p:nvPr/>
        </p:nvGraphicFramePr>
        <p:xfrm>
          <a:off x="290400" y="139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{57398234-F576-488A-AC5F-BE8EA6D24858}</a:tableStyleId>
              </a:tblPr>
              <a:tblGrid>
                <a:gridCol w="936625"/>
                <a:gridCol w="736600"/>
                <a:gridCol w="736600"/>
                <a:gridCol w="736600"/>
                <a:gridCol w="736600"/>
                <a:gridCol w="736600"/>
                <a:gridCol w="736600"/>
                <a:gridCol w="736600"/>
                <a:gridCol w="736600"/>
                <a:gridCol w="736600"/>
                <a:gridCol w="736600"/>
              </a:tblGrid>
              <a:tr h="33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Country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Seychelles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Mauritius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South Africa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Tunisia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Kenya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Rwanda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Cabo Verde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Morocco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Ghana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Namibia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AIPI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0.530653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0.525113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0.496765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0.465410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0.445192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0.437400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0.432587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0.429111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0.425200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0.419612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AIPI %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53.07%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52.51%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49.68%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46.54%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44.52%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43.74%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43.26%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42.91%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42.52%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41.96%</a:t>
                      </a:r>
                      <a:endParaRPr sz="1100"/>
                    </a:p>
                  </a:txBody>
                  <a:tcPr marT="63500" marB="63500" marR="63500" marL="63500"/>
                </a:tc>
              </a:tr>
              <a:tr h="336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Rank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1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2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3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4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5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6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7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8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9</a:t>
                      </a:r>
                      <a:endParaRPr sz="11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/>
                        <a:t>10</a:t>
                      </a:r>
                      <a:endParaRPr sz="11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  <p:sp>
        <p:nvSpPr>
          <p:cNvPr id="73" name="Google Shape;73;p16"/>
          <p:cNvSpPr txBox="1"/>
          <p:nvPr/>
        </p:nvSpPr>
        <p:spPr>
          <a:xfrm>
            <a:off x="388900" y="476725"/>
            <a:ext cx="7853400" cy="5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</a:rPr>
              <a:t>Top 10 African Countries AIPI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3040950" y="2976050"/>
            <a:ext cx="3062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Ghana ranks 9th out of 10 in Africa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47638"/>
            <a:ext cx="9144000" cy="48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49725"/>
            <a:ext cx="9144000" cy="45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7188"/>
            <a:ext cx="9144000" cy="442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Heatmap Explanation</a:t>
            </a:r>
            <a:endParaRPr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Regulation and Ethics:</a:t>
            </a:r>
            <a:r>
              <a:rPr lang="en-GB">
                <a:solidFill>
                  <a:schemeClr val="dk1"/>
                </a:solidFill>
              </a:rPr>
              <a:t> This is Ghana's highest-scoring pillar (0.134). While still significantly lower than the global leaders' average (0.217), it represents the area where Ghana has its strongest framework for AI preparedness.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Digital Infrastructure:</a:t>
            </a:r>
            <a:r>
              <a:rPr lang="en-GB">
                <a:solidFill>
                  <a:schemeClr val="dk1"/>
                </a:solidFill>
              </a:rPr>
              <a:t> This is the area with the widest relative gap. The global leaders average 0.193, while Ghana is at 0.089. This suggests that foundational access to high-speed internet and reliable data centers remains the most critical barrier for Ghana.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Heatmap Explanation</a:t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Human Capital: </a:t>
            </a:r>
            <a:r>
              <a:rPr lang="en-GB">
                <a:solidFill>
                  <a:schemeClr val="dk1"/>
                </a:solidFill>
              </a:rPr>
              <a:t>Ghana's score of 0.114 compared to the leaders' 0.180 indicates a need for continued investment in digital literacy and specialized AI skills within the workforce.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Innovation and Economic Integration: </a:t>
            </a:r>
            <a:r>
              <a:rPr lang="en-GB">
                <a:solidFill>
                  <a:schemeClr val="dk1"/>
                </a:solidFill>
              </a:rPr>
              <a:t>Ghana scores 0.089 here, nearly half of the global average (0.175). This reflects the challenges in integrating AI into the local business ecosystem and fostering home-grown tech innovation.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2" title="newplo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88600"/>
            <a:ext cx="8839201" cy="39663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/>
        </p:nvSpPr>
        <p:spPr>
          <a:xfrm>
            <a:off x="1065000" y="2048400"/>
            <a:ext cx="7014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2"/>
                </a:solidFill>
              </a:rPr>
              <a:t>GMT TEAM</a:t>
            </a:r>
            <a:endParaRPr sz="23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solidFill>
                  <a:schemeClr val="dk1"/>
                </a:solidFill>
              </a:rPr>
              <a:t>THANK YOU</a:t>
            </a:r>
            <a:endParaRPr sz="3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